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ragment Mono"/>
      <p:regular r:id="rId201314"/>
    </p:embeddedFont>
    <p:embeddedFont>
      <p:font typeface="Inter Tight"/>
      <p:regular r:id="rId201315"/>
    </p:embeddedFont>
    <p:embeddedFont>
      <p:font typeface="Inter Tight SemiBold"/>
      <p:regular r:id="rId201316"/>
    </p:embeddedFont>
    <p:embeddedFont>
      <p:font typeface="Inter Tigh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7797" cy="6858000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91820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HAPPIEST HEALTH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3006527"/>
            <a:ext cx="7086423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Hypertension</a:t>
            </a:r>
            <a:endParaRPr lang="en-US" sz="8000" dirty="0"/>
          </a:p>
          <a:p>
            <a:pPr algn="l" indent="0" marL="0">
              <a:lnSpc>
                <a:spcPct val="79000"/>
              </a:lnSpc>
              <a:buNone/>
            </a:pPr>
            <a:r>
              <a:rPr lang="en-US" sz="8000" spc="-360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Digital Twin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09585" y="5035510"/>
            <a:ext cx="751821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AI-powered proof of concept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5512495"/>
            <a:ext cx="7086423" cy="837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TEAM: 24PA1A4520 · TEAM LEADER: BUSI MYTHILI · VISHNU INSTITUTE OF TECHNOLOGY</a:t>
            </a:r>
            <a:endParaRPr lang="en-US" sz="1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EDUCATIONAL PROTOTYPE — NOT CLINICALLY VALIDATED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7797" y="0"/>
            <a:ext cx="4063898" cy="6858000"/>
          </a:xfrm>
          <a:prstGeom prst="rect">
            <a:avLst/>
          </a:prstGeom>
          <a:solidFill>
            <a:srgbClr val="A186F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94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01 ·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60460"/>
            <a:ext cx="10972526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Tracking blood pressure over time is still fragmented.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908399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210620"/>
            <a:ext cx="3352716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37423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Readings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3824446"/>
            <a:ext cx="3352716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Blood-pressure readings can be difficult to track consistently over time.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19489" y="2908399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19489" y="3210620"/>
            <a:ext cx="3352716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0" name="Text 8"/>
          <p:cNvSpPr/>
          <p:nvPr/>
        </p:nvSpPr>
        <p:spPr>
          <a:xfrm>
            <a:off x="4419489" y="337423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Digital view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19489" y="3824446"/>
            <a:ext cx="3352716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Organize readings, show trends and surface rule-based alerts.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394" y="2908399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394" y="3210620"/>
            <a:ext cx="3352716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394" y="3374231"/>
            <a:ext cx="335271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Prototype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394" y="3824446"/>
            <a:ext cx="3352716" cy="87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Combine a patient dashboard, database and machine-learning estimate.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464820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02 · HEALTHCARE USE CASE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829231"/>
            <a:ext cx="6349841" cy="2702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 virtual patient profile becomes a readable care journey.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09585" y="3667284"/>
            <a:ext cx="634984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prototype organizes readings and returns a statistical estimate only.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E6E6E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03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From NHANES files to a profile-based elevated-BP estimate.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58786" y="1312466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8786" y="1614686"/>
            <a:ext cx="2616135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6" name="Text 4"/>
          <p:cNvSpPr/>
          <p:nvPr/>
        </p:nvSpPr>
        <p:spPr>
          <a:xfrm>
            <a:off x="558786" y="1778298"/>
            <a:ext cx="261613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NHANES files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58786" y="2228513"/>
            <a:ext cx="261613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Source files enter the training workflow.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79713" y="1312466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79713" y="1614686"/>
            <a:ext cx="2463738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0" name="Text 8"/>
          <p:cNvSpPr/>
          <p:nvPr/>
        </p:nvSpPr>
        <p:spPr>
          <a:xfrm>
            <a:off x="3479713" y="1778298"/>
            <a:ext cx="246373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Merge / cleaning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479713" y="2228513"/>
            <a:ext cx="246373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are prepared for modeling.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48244" y="1312466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1614686"/>
            <a:ext cx="2539936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1778298"/>
            <a:ext cx="25399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248244" y="2228513"/>
            <a:ext cx="2539936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Training pipeline creates the model.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92973" y="1312466"/>
            <a:ext cx="88262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92973" y="1614686"/>
            <a:ext cx="2539936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8" name="Text 16"/>
          <p:cNvSpPr/>
          <p:nvPr/>
        </p:nvSpPr>
        <p:spPr>
          <a:xfrm>
            <a:off x="9092973" y="1778298"/>
            <a:ext cx="253993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Saved model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092973" y="2228513"/>
            <a:ext cx="2539936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Model is loaded by the application.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58786" y="3108027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58786" y="3410248"/>
            <a:ext cx="2616135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22" name="Text 20"/>
          <p:cNvSpPr/>
          <p:nvPr/>
        </p:nvSpPr>
        <p:spPr>
          <a:xfrm>
            <a:off x="558786" y="3573859"/>
            <a:ext cx="2616135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Flask app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58786" y="4024074"/>
            <a:ext cx="261613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Profiles produce an elevated-BP estimate.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479713" y="3108027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06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3479713" y="3410248"/>
            <a:ext cx="8153196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26" name="Text 24"/>
          <p:cNvSpPr/>
          <p:nvPr/>
        </p:nvSpPr>
        <p:spPr>
          <a:xfrm>
            <a:off x="3479713" y="3573859"/>
            <a:ext cx="815319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479713" y="4024074"/>
            <a:ext cx="815319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SQLite stores profiles, readings and alerts; results are displayed.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58786" y="4844852"/>
            <a:ext cx="11074123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558786" y="5126157"/>
            <a:ext cx="1163290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BP READINGS → CATEGORY AND TREND LOGIC → RULE-BASED ALERTS.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140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04 · TECHNICAL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35060"/>
            <a:ext cx="10972526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One compact stack connects data preparation, modeling and the dashboard.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769666"/>
            <a:ext cx="3454314" cy="2471241"/>
          </a:xfrm>
          <a:prstGeom prst="roundRect">
            <a:avLst>
              <a:gd name="adj" fmla="val 463"/>
            </a:avLst>
          </a:prstGeom>
          <a:noFill/>
          <a:ln w="25399">
            <a:solidFill>
              <a:srgbClr val="876C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4984" y="1795066"/>
            <a:ext cx="3403515" cy="66040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6" name="Shape 4"/>
          <p:cNvSpPr/>
          <p:nvPr/>
        </p:nvSpPr>
        <p:spPr>
          <a:xfrm>
            <a:off x="634984" y="2442766"/>
            <a:ext cx="3403515" cy="12700"/>
          </a:xfrm>
          <a:prstGeom prst="rect">
            <a:avLst/>
          </a:prstGeom>
          <a:solidFill>
            <a:srgbClr val="876CD9"/>
          </a:solidFill>
          <a:ln/>
        </p:spPr>
      </p:sp>
      <p:sp>
        <p:nvSpPr>
          <p:cNvPr id="7" name="Text 5"/>
          <p:cNvSpPr/>
          <p:nvPr/>
        </p:nvSpPr>
        <p:spPr>
          <a:xfrm>
            <a:off x="2234251" y="1956991"/>
            <a:ext cx="81456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50879" y="2556272"/>
            <a:ext cx="297172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Application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50879" y="2998391"/>
            <a:ext cx="2971726" cy="100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Python and Flask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HTML/CSS/JavaScript dashboard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68691" y="1769666"/>
            <a:ext cx="3454314" cy="2471241"/>
          </a:xfrm>
          <a:prstGeom prst="roundRect">
            <a:avLst>
              <a:gd name="adj" fmla="val 463"/>
            </a:avLst>
          </a:prstGeom>
          <a:noFill/>
          <a:ln w="25399">
            <a:solidFill>
              <a:srgbClr val="876C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94090" y="1795066"/>
            <a:ext cx="3403515" cy="66040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394090" y="2442766"/>
            <a:ext cx="3403515" cy="12700"/>
          </a:xfrm>
          <a:prstGeom prst="rect">
            <a:avLst/>
          </a:prstGeom>
          <a:solidFill>
            <a:srgbClr val="876CD9"/>
          </a:solidFill>
          <a:ln/>
        </p:spPr>
      </p:sp>
      <p:sp>
        <p:nvSpPr>
          <p:cNvPr id="13" name="Text 11"/>
          <p:cNvSpPr/>
          <p:nvPr/>
        </p:nvSpPr>
        <p:spPr>
          <a:xfrm>
            <a:off x="5993357" y="1956991"/>
            <a:ext cx="81456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609985" y="2556272"/>
            <a:ext cx="297172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Persistence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09985" y="2998391"/>
            <a:ext cx="2971726" cy="100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SQLite persistence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Patient profiles, readings and alerts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127797" y="1769666"/>
            <a:ext cx="3454314" cy="2471241"/>
          </a:xfrm>
          <a:prstGeom prst="roundRect">
            <a:avLst>
              <a:gd name="adj" fmla="val 463"/>
            </a:avLst>
          </a:prstGeom>
          <a:noFill/>
          <a:ln w="25399">
            <a:solidFill>
              <a:srgbClr val="876C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3196" y="1795066"/>
            <a:ext cx="3403515" cy="66040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8" name="Shape 16"/>
          <p:cNvSpPr/>
          <p:nvPr/>
        </p:nvSpPr>
        <p:spPr>
          <a:xfrm>
            <a:off x="8153196" y="2442766"/>
            <a:ext cx="3403515" cy="12700"/>
          </a:xfrm>
          <a:prstGeom prst="rect">
            <a:avLst/>
          </a:prstGeom>
          <a:solidFill>
            <a:srgbClr val="876CD9"/>
          </a:solidFill>
          <a:ln/>
        </p:spPr>
      </p:sp>
      <p:sp>
        <p:nvSpPr>
          <p:cNvPr id="19" name="Text 17"/>
          <p:cNvSpPr/>
          <p:nvPr/>
        </p:nvSpPr>
        <p:spPr>
          <a:xfrm>
            <a:off x="9752463" y="1956991"/>
            <a:ext cx="81456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8369091" y="2556272"/>
            <a:ext cx="2971726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369091" y="2998391"/>
            <a:ext cx="2971726" cy="100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pandas and NumPy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NHANES source files in training workflow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09585" y="4545707"/>
            <a:ext cx="10972526" cy="2179836"/>
          </a:xfrm>
          <a:prstGeom prst="roundRect">
            <a:avLst>
              <a:gd name="adj" fmla="val 524"/>
            </a:avLst>
          </a:prstGeom>
          <a:noFill/>
          <a:ln w="25399">
            <a:solidFill>
              <a:srgbClr val="876C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4984" y="4571107"/>
            <a:ext cx="10921727" cy="66040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24" name="Shape 22"/>
          <p:cNvSpPr/>
          <p:nvPr/>
        </p:nvSpPr>
        <p:spPr>
          <a:xfrm>
            <a:off x="634984" y="5218807"/>
            <a:ext cx="10921727" cy="12700"/>
          </a:xfrm>
          <a:prstGeom prst="rect">
            <a:avLst/>
          </a:prstGeom>
          <a:solidFill>
            <a:srgbClr val="876CD9"/>
          </a:solidFill>
          <a:ln/>
        </p:spPr>
      </p:sp>
      <p:sp>
        <p:nvSpPr>
          <p:cNvPr id="25" name="Text 23"/>
          <p:cNvSpPr/>
          <p:nvPr/>
        </p:nvSpPr>
        <p:spPr>
          <a:xfrm>
            <a:off x="5993456" y="4733032"/>
            <a:ext cx="814268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4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850879" y="5332313"/>
            <a:ext cx="1048993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Modeling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50879" y="5774432"/>
            <a:ext cx="10489938" cy="709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scikit-learn Random Forest pipeline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Preprocessing and imputation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017" cy="6858000"/>
          </a:xfrm>
          <a:prstGeom prst="rect">
            <a:avLst/>
          </a:prstGeom>
          <a:solidFill>
            <a:srgbClr val="E2DAFB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15620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05 · AI / ML TARGET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880031"/>
            <a:ext cx="6248244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5600" spc="-25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elevated_bp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09585" y="3371255"/>
            <a:ext cx="670543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SBP &gt;= 130 OR DBP &gt;= 80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906401"/>
            <a:ext cx="6248244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training workflow estimates this binary dataset label from profile features.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96007" y="547688"/>
            <a:ext cx="396230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Boundary of the model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96007" y="1078071"/>
            <a:ext cx="3962301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It is not a hypertensive-crisis prediction or clinical diagnosis.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696007" y="1898848"/>
            <a:ext cx="3962301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7696007" y="2180154"/>
            <a:ext cx="396230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BP CATEGORY AND ALERTS ARE SEPARATE FROM THE PROFILE-BASED MODEL SCORE.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06 · HOLD-OUT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Recall leads the hold-out profile, while ROC-AUC remains moderate.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744266"/>
            <a:ext cx="7077890" cy="63976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840786"/>
            <a:ext cx="692549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HOLDOUT_METRICS.CSV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8786" y="2384028"/>
            <a:ext cx="7077890" cy="4118372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879" y="2625328"/>
            <a:ext cx="6493705" cy="337175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3865" y="3429198"/>
            <a:ext cx="1029964" cy="33664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8223342" y="3499223"/>
            <a:ext cx="1380594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27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HIGHEST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93865" y="3865860"/>
            <a:ext cx="353904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Recall / sensitivity: 0.7067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3865" y="4391640"/>
            <a:ext cx="3539044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ACCURACY 0.6561 · PRECISION 0.5779 · F1-SCORE 0.6359 · ROC-AUC 0.7225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862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07 · CONFUSION MATRIX + CROSS-VALIDATION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8786" y="709660"/>
            <a:ext cx="1107412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Evaluation is consistent enough to inspect, but remains preliminary.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58786" y="1744266"/>
            <a:ext cx="5308467" cy="37584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1840786"/>
            <a:ext cx="515607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FFFFFF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CONFUSION_MATRIX.CSV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8786" y="2120106"/>
            <a:ext cx="5308467" cy="2216944"/>
          </a:xfrm>
          <a:prstGeom prst="rect">
            <a:avLst/>
          </a:prstGeom>
          <a:solidFill>
            <a:srgbClr val="E6E6EA"/>
          </a:solidFill>
          <a:ln w="12700">
            <a:solidFill>
              <a:srgbClr val="1A1A1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879" y="2361406"/>
          <a:ext cx="4724282" cy="914400"/>
        </p:xfrm>
        <a:graphic>
          <a:graphicData uri="http://schemas.openxmlformats.org/drawingml/2006/table">
            <a:tbl>
              <a:tblPr/>
              <a:tblGrid>
                <a:gridCol w="1889713"/>
                <a:gridCol w="1417285"/>
                <a:gridCol w="1417285"/>
              </a:tblGrid>
              <a:tr h="7681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Actual / predicted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0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1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</a:tr>
              <a:tr h="4767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0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571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352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</a:tr>
              <a:tr h="4640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1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200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Inter Tight" pitchFamily="34" charset="0"/>
                          <a:ea typeface="Inter Tight" pitchFamily="34" charset="-122"/>
                          <a:cs typeface="Inter Tight" pitchFamily="34" charset="-120"/>
                        </a:rPr>
                        <a:t>482</a:t>
                      </a:r>
                      <a:endParaRPr lang="en-US" sz="1700" dirty="0">
                        <a:latin typeface="Inter Tight" charset="0"/>
                        <a:ea typeface="Inter Tight" charset="0"/>
                        <a:cs typeface="Inter Tigh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324442" y="1747758"/>
            <a:ext cx="212332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FIVE-FOLD CV F1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76363" y="1758553"/>
            <a:ext cx="295654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0.6247 ± 0.0085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324442" y="2585958"/>
            <a:ext cx="189473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FIVE-FOLD CV ROC-AUC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76363" y="2596753"/>
            <a:ext cx="2956546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0.7189 ± 0.0123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324442" y="3142179"/>
            <a:ext cx="530846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RESULTS DEPEND ON THE DATASET AND EVALUATION SETUP.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41419" y="1744266"/>
            <a:ext cx="12700" cy="609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1"/>
          <p:cNvSpPr/>
          <p:nvPr/>
        </p:nvSpPr>
        <p:spPr>
          <a:xfrm>
            <a:off x="6324442" y="2347516"/>
            <a:ext cx="2123327" cy="12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2"/>
          <p:cNvSpPr/>
          <p:nvPr/>
        </p:nvSpPr>
        <p:spPr>
          <a:xfrm>
            <a:off x="8441419" y="2353866"/>
            <a:ext cx="12700" cy="6578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3"/>
          <p:cNvSpPr/>
          <p:nvPr/>
        </p:nvSpPr>
        <p:spPr>
          <a:xfrm>
            <a:off x="8447769" y="2347516"/>
            <a:ext cx="3185140" cy="1270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14020"/>
            <a:ext cx="711182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08 · PROTOTYPE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35060"/>
            <a:ext cx="673083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Switch profiles, record readings, then inspect the changing history.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1769666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071886"/>
            <a:ext cx="3212920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235498"/>
            <a:ext cx="321302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Switch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2685713"/>
            <a:ext cx="321302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Choose a virtual patient and review profile scores.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27397" y="1769666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127397" y="2071886"/>
            <a:ext cx="3212920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0" name="Text 8"/>
          <p:cNvSpPr/>
          <p:nvPr/>
        </p:nvSpPr>
        <p:spPr>
          <a:xfrm>
            <a:off x="4127397" y="2235498"/>
            <a:ext cx="321302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Record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127397" y="2685713"/>
            <a:ext cx="321302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Add systolic/diastolic BP and optional heart rate.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585" y="3565227"/>
            <a:ext cx="8828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9585" y="3867448"/>
            <a:ext cx="3212920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4031059"/>
            <a:ext cx="321302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Review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9585" y="4481274"/>
            <a:ext cx="321302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History updates with timeline and trend summaries.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127397" y="3565227"/>
            <a:ext cx="88262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127397" y="3867448"/>
            <a:ext cx="3212920" cy="1905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18" name="Text 16"/>
          <p:cNvSpPr/>
          <p:nvPr/>
        </p:nvSpPr>
        <p:spPr>
          <a:xfrm>
            <a:off x="4127397" y="4031059"/>
            <a:ext cx="3213020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spc="-9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Respond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127397" y="4481274"/>
            <a:ext cx="3213020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Alerts can be demonstrated and acknowledged.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09585" y="5253157"/>
            <a:ext cx="6730832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THE SCORE DEPENDS ON PROFILE FEATURES, NOT ONLY THE LATEST BP READING.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A186F3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9420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52" kern="100" dirty="0">
                <a:solidFill>
                  <a:srgbClr val="1A1A1A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09 · SOFTWARE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60460"/>
            <a:ext cx="10972526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3400" spc="-119" kern="100" dirty="0">
                <a:solidFill>
                  <a:srgbClr val="121212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Every reported software check passed.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363266"/>
            <a:ext cx="4206075" cy="2294830"/>
          </a:xfrm>
          <a:prstGeom prst="rect">
            <a:avLst/>
          </a:prstGeom>
          <a:solidFill>
            <a:srgbClr val="A186F3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1834896"/>
            <a:ext cx="3596490" cy="125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10400" spc="-572" kern="100" dirty="0">
                <a:solidFill>
                  <a:srgbClr val="0000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41/41</a:t>
            </a:r>
            <a:endParaRPr lang="en-US" sz="10400" dirty="0"/>
          </a:p>
        </p:txBody>
      </p:sp>
      <p:sp>
        <p:nvSpPr>
          <p:cNvPr id="6" name="Text 4"/>
          <p:cNvSpPr/>
          <p:nvPr/>
        </p:nvSpPr>
        <p:spPr>
          <a:xfrm>
            <a:off x="914377" y="3142179"/>
            <a:ext cx="390128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CHECKS PASSED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72749" y="1606153"/>
            <a:ext cx="630936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12" kern="100" dirty="0">
                <a:solidFill>
                  <a:srgbClr val="121212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Covered areas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272749" y="2136537"/>
            <a:ext cx="157734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Model loading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078684" y="2136537"/>
            <a:ext cx="112015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handling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56024" y="2136537"/>
            <a:ext cx="1120152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Database operations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233364" y="2136537"/>
            <a:ext cx="1348746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Trends and alerts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72749" y="2841744"/>
            <a:ext cx="6309361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Fragment Mono" pitchFamily="34" charset="0"/>
                <a:ea typeface="Fragment Mono" pitchFamily="34" charset="-122"/>
                <a:cs typeface="Fragment Mono" pitchFamily="34" charset="-120"/>
              </a:rPr>
              <a:t>INCLUDE EVALUATION_REPORT.TXT AND TEST_REPORT.TXT IN THE REPOSITORY.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585" y="3904159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4190067"/>
            <a:ext cx="1158211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Passing software tests does not establish clinical validity or patient safety.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43740" y="2128441"/>
            <a:ext cx="12700" cy="58281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21080" y="2128441"/>
            <a:ext cx="12700" cy="582811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9998420" y="2128441"/>
            <a:ext cx="12700" cy="582811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2026-10-20T13:21:33Z</dcterms:created>
  <dcterms:modified xsi:type="dcterms:W3CDTF">2026-10-20T13:21:33Z</dcterms:modified>
</cp:coreProperties>
</file>